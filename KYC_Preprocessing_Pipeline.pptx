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0"/>
            <a:ext cx="822960" cy="2331720"/>
          </a:xfrm>
          <a:prstGeom prst="rect">
            <a:avLst/>
          </a:prstGeom>
          <a:solidFill>
            <a:srgbClr val="0F1F35">
              <a:alpha val="80000"/>
            </a:srgbClr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0"/>
            <a:ext cx="822960" cy="2331720"/>
          </a:xfrm>
          <a:prstGeom prst="rect">
            <a:avLst/>
          </a:prstGeom>
          <a:solidFill>
            <a:srgbClr val="0F1F35">
              <a:alpha val="80000"/>
            </a:srgbClr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0"/>
            <a:ext cx="822960" cy="2331720"/>
          </a:xfrm>
          <a:prstGeom prst="rect">
            <a:avLst/>
          </a:prstGeom>
          <a:solidFill>
            <a:srgbClr val="0F1F35">
              <a:alpha val="80000"/>
            </a:srgbClr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0" y="2560320"/>
            <a:ext cx="822960" cy="2331720"/>
          </a:xfrm>
          <a:prstGeom prst="rect">
            <a:avLst/>
          </a:prstGeom>
          <a:solidFill>
            <a:srgbClr val="0F1F35">
              <a:alpha val="80000"/>
            </a:srgbClr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0" y="2560320"/>
            <a:ext cx="822960" cy="2331720"/>
          </a:xfrm>
          <a:prstGeom prst="rect">
            <a:avLst/>
          </a:prstGeom>
          <a:solidFill>
            <a:srgbClr val="0F1F35">
              <a:alpha val="80000"/>
            </a:srgbClr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0" y="2560320"/>
            <a:ext cx="822960" cy="2331720"/>
          </a:xfrm>
          <a:prstGeom prst="rect">
            <a:avLst/>
          </a:prstGeom>
          <a:solidFill>
            <a:srgbClr val="0F1F35">
              <a:alpha val="80000"/>
            </a:srgbClr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502920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Face Detection &amp;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65760" y="1207008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5760" y="195681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Workflow, Pipeline Steps &amp; Architecture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359152"/>
            <a:ext cx="5029200" cy="0"/>
          </a:xfrm>
          <a:prstGeom prst="line">
            <a:avLst/>
          </a:prstGeom>
          <a:noFill/>
          <a:ln w="19050">
            <a:solidFill>
              <a:srgbClr val="00B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54203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MTCNN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5760" y="288950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Detector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755648" y="254203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224x224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755648" y="288950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Size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45536" y="254203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Steps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145536" y="288950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35424" y="254203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94.7%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535424" y="288950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60F1C"/>
          </a:solidFill>
          <a:ln w="12700">
            <a:solidFill>
              <a:srgbClr val="060F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 •  Python 3.10  •  OpenCV 4.13  •  TensorFlow 2.19  •  MTCNN  •  NumPy 2.0  •  scikit-learn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Preprocessing Workflow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raw images become model-ready tensors — 10 notebook cells, 1 unified flow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" y="1042416"/>
            <a:ext cx="1591056" cy="1572768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005840"/>
            <a:ext cx="1591056" cy="1572768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005840"/>
            <a:ext cx="1591056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1005840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" y="138988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Setup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64592" y="1700784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libs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Drive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773936" y="1792224"/>
            <a:ext cx="146304" cy="0"/>
          </a:xfrm>
          <a:prstGeom prst="line">
            <a:avLst/>
          </a:prstGeom>
          <a:noFill/>
          <a:ln w="19050">
            <a:solidFill>
              <a:srgbClr val="0D21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75104" y="1042416"/>
            <a:ext cx="1591056" cy="1572768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38528" y="1005840"/>
            <a:ext cx="1591056" cy="1572768"/>
          </a:xfrm>
          <a:prstGeom prst="rect">
            <a:avLst/>
          </a:prstGeom>
          <a:solidFill>
            <a:srgbClr val="FFFFFF"/>
          </a:solidFill>
          <a:ln w="25400">
            <a:solidFill>
              <a:srgbClr val="0069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38528" y="1005840"/>
            <a:ext cx="1591056" cy="3474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38528" y="1005840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938528" y="138988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938528" y="1700784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 224x224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confidence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547872" y="1792224"/>
            <a:ext cx="146304" cy="0"/>
          </a:xfrm>
          <a:prstGeom prst="line">
            <a:avLst/>
          </a:prstGeom>
          <a:noFill/>
          <a:ln w="19050">
            <a:solidFill>
              <a:srgbClr val="0D213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1042416"/>
            <a:ext cx="1591056" cy="1572768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12464" y="1005840"/>
            <a:ext cx="1591056" cy="1572768"/>
          </a:xfrm>
          <a:prstGeom prst="rect">
            <a:avLst/>
          </a:prstGeom>
          <a:solidFill>
            <a:srgbClr val="FFFFFF"/>
          </a:solidFill>
          <a:ln w="25400">
            <a:solidFill>
              <a:srgbClr val="E651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12464" y="1005840"/>
            <a:ext cx="1591056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12464" y="1005840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712464" y="138988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&amp; Pair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712464" y="1700784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selfie+ID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keywords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321808" y="1792224"/>
            <a:ext cx="146304" cy="0"/>
          </a:xfrm>
          <a:prstGeom prst="line">
            <a:avLst/>
          </a:prstGeom>
          <a:noFill/>
          <a:ln w="19050">
            <a:solidFill>
              <a:srgbClr val="0D213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22976" y="1042416"/>
            <a:ext cx="1591056" cy="1572768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1005840"/>
            <a:ext cx="1591056" cy="1572768"/>
          </a:xfrm>
          <a:prstGeom prst="rect">
            <a:avLst/>
          </a:prstGeom>
          <a:solidFill>
            <a:srgbClr val="FFFFFF"/>
          </a:solidFill>
          <a:ln w="25400">
            <a:solidFill>
              <a:srgbClr val="6A1B9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0" y="1005840"/>
            <a:ext cx="1591056" cy="3474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0" y="1005840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0" y="138988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0" y="1700784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70/15/15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train/val/test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095744" y="1792224"/>
            <a:ext cx="146304" cy="0"/>
          </a:xfrm>
          <a:prstGeom prst="line">
            <a:avLst/>
          </a:prstGeom>
          <a:noFill/>
          <a:ln w="19050">
            <a:solidFill>
              <a:srgbClr val="0D213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96912" y="1042416"/>
            <a:ext cx="1591056" cy="1572768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60336" y="1005840"/>
            <a:ext cx="1591056" cy="1572768"/>
          </a:xfrm>
          <a:prstGeom prst="rect">
            <a:avLst/>
          </a:prstGeom>
          <a:solidFill>
            <a:srgbClr val="FFFFFF"/>
          </a:solidFill>
          <a:ln w="25400">
            <a:solidFill>
              <a:srgbClr val="880E4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60336" y="1005840"/>
            <a:ext cx="1591056" cy="347472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60336" y="1005840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260336" y="138988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260336" y="1700784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MTCNN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Bbox+Landmarks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01168" y="2889504"/>
            <a:ext cx="1591056" cy="1572768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64592" y="2852928"/>
            <a:ext cx="1591056" cy="1572768"/>
          </a:xfrm>
          <a:prstGeom prst="rect">
            <a:avLst/>
          </a:prstGeom>
          <a:solidFill>
            <a:srgbClr val="FFFFFF"/>
          </a:solidFill>
          <a:ln w="25400">
            <a:solidFill>
              <a:srgbClr val="004D4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64592" y="2852928"/>
            <a:ext cx="1591056" cy="347472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4592" y="2852928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64592" y="3236976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+ Align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64592" y="3547872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20px margin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alignment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773936" y="3639312"/>
            <a:ext cx="146304" cy="0"/>
          </a:xfrm>
          <a:prstGeom prst="line">
            <a:avLst/>
          </a:prstGeom>
          <a:noFill/>
          <a:ln w="19050">
            <a:solidFill>
              <a:srgbClr val="0D213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75104" y="2889504"/>
            <a:ext cx="1591056" cy="1572768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38528" y="2852928"/>
            <a:ext cx="1591056" cy="1572768"/>
          </a:xfrm>
          <a:prstGeom prst="rect">
            <a:avLst/>
          </a:prstGeom>
          <a:solidFill>
            <a:srgbClr val="FFFFFF"/>
          </a:solidFill>
          <a:ln w="25400">
            <a:solidFill>
              <a:srgbClr val="BF360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938528" y="2852928"/>
            <a:ext cx="1591056" cy="347472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938528" y="2852928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938528" y="3236976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938528" y="3547872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CLAHE+Resize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[0-1]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547872" y="3639312"/>
            <a:ext cx="146304" cy="0"/>
          </a:xfrm>
          <a:prstGeom prst="line">
            <a:avLst/>
          </a:prstGeom>
          <a:noFill/>
          <a:ln w="19050">
            <a:solidFill>
              <a:srgbClr val="0D213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749040" y="2889504"/>
            <a:ext cx="1591056" cy="1572768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712464" y="2852928"/>
            <a:ext cx="1591056" cy="1572768"/>
          </a:xfrm>
          <a:prstGeom prst="rect">
            <a:avLst/>
          </a:prstGeom>
          <a:solidFill>
            <a:srgbClr val="FFFFFF"/>
          </a:solidFill>
          <a:ln w="25400">
            <a:solidFill>
              <a:srgbClr val="1A237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712464" y="2852928"/>
            <a:ext cx="1591056" cy="34747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712464" y="2852928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3712464" y="3236976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3712464" y="3547872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only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extra copies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321808" y="3639312"/>
            <a:ext cx="146304" cy="0"/>
          </a:xfrm>
          <a:prstGeom prst="line">
            <a:avLst/>
          </a:prstGeom>
          <a:noFill/>
          <a:ln w="19050">
            <a:solidFill>
              <a:srgbClr val="0D213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522976" y="2889504"/>
            <a:ext cx="1591056" cy="1572768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486400" y="2852928"/>
            <a:ext cx="1591056" cy="1572768"/>
          </a:xfrm>
          <a:prstGeom prst="rect">
            <a:avLst/>
          </a:prstGeom>
          <a:solidFill>
            <a:srgbClr val="FFFFFF"/>
          </a:solidFill>
          <a:ln w="25400">
            <a:solidFill>
              <a:srgbClr val="37474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486400" y="2852928"/>
            <a:ext cx="1591056" cy="347472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86400" y="2852928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5486400" y="3236976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Check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5486400" y="3547872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sample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grids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7095744" y="3639312"/>
            <a:ext cx="146304" cy="0"/>
          </a:xfrm>
          <a:prstGeom prst="line">
            <a:avLst/>
          </a:prstGeom>
          <a:noFill/>
          <a:ln w="19050">
            <a:solidFill>
              <a:srgbClr val="0D2137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296912" y="2889504"/>
            <a:ext cx="1591056" cy="1572768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260336" y="2852928"/>
            <a:ext cx="1591056" cy="1572768"/>
          </a:xfrm>
          <a:prstGeom prst="rect">
            <a:avLst/>
          </a:prstGeom>
          <a:solidFill>
            <a:srgbClr val="FFFFFF"/>
          </a:solidFill>
          <a:ln w="25400">
            <a:solidFill>
              <a:srgbClr val="1B5E2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260336" y="2852928"/>
            <a:ext cx="1591056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260336" y="2852928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7260336" y="3236976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Output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7260336" y="3547872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Shape+dtype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Model-ready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8906256" y="1828800"/>
            <a:ext cx="0" cy="438912"/>
          </a:xfrm>
          <a:prstGeom prst="line">
            <a:avLst/>
          </a:prstGeom>
          <a:noFill/>
          <a:ln w="19050">
            <a:solidFill>
              <a:srgbClr val="0D2137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64592" y="2267712"/>
            <a:ext cx="8741664" cy="0"/>
          </a:xfrm>
          <a:prstGeom prst="line">
            <a:avLst/>
          </a:prstGeom>
          <a:noFill/>
          <a:ln w="12700">
            <a:solidFill>
              <a:srgbClr val="0D2137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64592" y="2267712"/>
            <a:ext cx="0" cy="566928"/>
          </a:xfrm>
          <a:prstGeom prst="line">
            <a:avLst/>
          </a:prstGeom>
          <a:noFill/>
          <a:ln w="19050">
            <a:solidFill>
              <a:srgbClr val="0D2137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6101E"/>
          </a:solidFill>
          <a:ln w="12700">
            <a:solidFill>
              <a:srgbClr val="06101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Face Detection &amp; Preprocessing Pipeline  •  Slide 2 of 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111E"/>
          </a:solidFill>
          <a:ln w="12700">
            <a:solidFill>
              <a:srgbClr val="0811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MTCNN — Face Detection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Multi-Task Cascaded CNN  •  3-Stage Cascade  •  Fast &amp; Accurate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024128"/>
            <a:ext cx="2743200" cy="3858768"/>
          </a:xfrm>
          <a:prstGeom prst="rect">
            <a:avLst/>
          </a:prstGeom>
          <a:solidFill>
            <a:srgbClr val="0F2744"/>
          </a:solidFill>
          <a:ln w="25400">
            <a:solidFill>
              <a:srgbClr val="42A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24128"/>
            <a:ext cx="27432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042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FAST SCAN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28600" y="12070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P-Net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05840" y="1691640"/>
            <a:ext cx="1188720" cy="237744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6916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12x12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" y="1993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Network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" y="2286000"/>
            <a:ext cx="25237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the entire image at multiple scales using a tiny fully convolutional network. Proposes hundreds of rough candidate face regions quickly. Produces many false positives intentionally.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4462272"/>
            <a:ext cx="2560320" cy="320040"/>
          </a:xfrm>
          <a:prstGeom prst="rect">
            <a:avLst/>
          </a:prstGeom>
          <a:solidFill>
            <a:srgbClr val="1565C0">
              <a:alpha val="65000"/>
            </a:srgbClr>
          </a:solidFill>
          <a:ln w="6350">
            <a:solidFill>
              <a:srgbClr val="42A5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44622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Hundreds of rough bounding boxes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990088" y="2999232"/>
            <a:ext cx="164592" cy="0"/>
          </a:xfrm>
          <a:prstGeom prst="line">
            <a:avLst/>
          </a:prstGeom>
          <a:noFill/>
          <a:ln w="25400">
            <a:solidFill>
              <a:srgbClr val="FFD6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72968" y="1024128"/>
            <a:ext cx="2743200" cy="3858768"/>
          </a:xfrm>
          <a:prstGeom prst="rect">
            <a:avLst/>
          </a:prstGeom>
          <a:solidFill>
            <a:srgbClr val="0F2744"/>
          </a:solidFill>
          <a:ln w="25400">
            <a:solidFill>
              <a:srgbClr val="26A6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72968" y="1024128"/>
            <a:ext cx="2743200" cy="5943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72968" y="1042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REFINE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172968" y="12070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R-Net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3950208" y="1691640"/>
            <a:ext cx="1188720" cy="237744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50208" y="16916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24x24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172968" y="1993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Network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82696" y="2286000"/>
            <a:ext cx="25237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all P-Net candidate regions resized to 24x24. A larger CNN rejects most false positives and refines the bounding boxes of remaining detections with improved accuracy.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64408" y="4462272"/>
            <a:ext cx="2560320" cy="320040"/>
          </a:xfrm>
          <a:prstGeom prst="rect">
            <a:avLst/>
          </a:prstGeom>
          <a:solidFill>
            <a:srgbClr val="00695C">
              <a:alpha val="65000"/>
            </a:srgbClr>
          </a:solidFill>
          <a:ln w="6350">
            <a:solidFill>
              <a:srgbClr val="26A6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64408" y="44622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Fewer, more accurate boxes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934456" y="2999232"/>
            <a:ext cx="164592" cy="0"/>
          </a:xfrm>
          <a:prstGeom prst="line">
            <a:avLst/>
          </a:prstGeom>
          <a:noFill/>
          <a:ln w="25400">
            <a:solidFill>
              <a:srgbClr val="FFD6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17336" y="1024128"/>
            <a:ext cx="2743200" cy="3858768"/>
          </a:xfrm>
          <a:prstGeom prst="rect">
            <a:avLst/>
          </a:prstGeom>
          <a:solidFill>
            <a:srgbClr val="0F2744"/>
          </a:solidFill>
          <a:ln w="25400">
            <a:solidFill>
              <a:srgbClr val="AB47B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17336" y="1024128"/>
            <a:ext cx="2743200" cy="5943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17336" y="1042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FINAL OUTPUT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117336" y="12070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O-Net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6894576" y="1691640"/>
            <a:ext cx="1188720" cy="237744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94576" y="16916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48x48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17336" y="1993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Network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27064" y="2286000"/>
            <a:ext cx="25237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and largest CNN. Takes 48x48 crops of surviving candidates and outputs the precise bounding box, confidence score, and 5 facial landmark coordinates (eyes, nose, mouth corners).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08776" y="4462272"/>
            <a:ext cx="2560320" cy="320040"/>
          </a:xfrm>
          <a:prstGeom prst="rect">
            <a:avLst/>
          </a:prstGeom>
          <a:solidFill>
            <a:srgbClr val="6A1B9A">
              <a:alpha val="65000"/>
            </a:srgbClr>
          </a:solidFill>
          <a:ln w="6350">
            <a:solidFill>
              <a:srgbClr val="AB47B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08776" y="44622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Final box + 5 landmarks + score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6101E"/>
          </a:solidFill>
          <a:ln w="12700">
            <a:solidFill>
              <a:srgbClr val="06101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Face Detection &amp; Preprocessing Pipeline  •  Slide 3 of 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5-Step Image Processing Pipeline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image passes through all 5 steps in sequence before being saved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1069848"/>
            <a:ext cx="1627632" cy="3703320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1024128"/>
            <a:ext cx="1627632" cy="3703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" y="1024128"/>
            <a:ext cx="1627632" cy="6217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" y="1042416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" y="1371600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5176" y="1700784"/>
            <a:ext cx="1371600" cy="256032"/>
          </a:xfrm>
          <a:prstGeom prst="rect">
            <a:avLst/>
          </a:prstGeom>
          <a:solidFill>
            <a:srgbClr val="BBDEFB">
              <a:alpha val="60000"/>
            </a:srgbClr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" y="17007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MTCNN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28600" y="2029968"/>
            <a:ext cx="146304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3-stage cascade CNN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 output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&amp; nose landmarks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90% confidence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783080" y="2907792"/>
            <a:ext cx="109728" cy="0"/>
          </a:xfrm>
          <a:prstGeom prst="line">
            <a:avLst/>
          </a:prstGeom>
          <a:noFill/>
          <a:ln w="25400">
            <a:solidFill>
              <a:srgbClr val="0D21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56816" y="1069848"/>
            <a:ext cx="1627632" cy="3703320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11096" y="1024128"/>
            <a:ext cx="1627632" cy="3703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69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11096" y="1024128"/>
            <a:ext cx="1627632" cy="62179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11096" y="1042416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911096" y="1371600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039112" y="1700784"/>
            <a:ext cx="1371600" cy="256032"/>
          </a:xfrm>
          <a:prstGeom prst="rect">
            <a:avLst/>
          </a:prstGeom>
          <a:solidFill>
            <a:srgbClr val="B2DFDB">
              <a:alpha val="60000"/>
            </a:srgbClr>
          </a:solidFill>
          <a:ln w="6350">
            <a:solidFill>
              <a:srgbClr val="0069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39112" y="17007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cv2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002536" y="2029968"/>
            <a:ext cx="146304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face from image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20px margin padding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 to boundaries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region check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57016" y="2907792"/>
            <a:ext cx="109728" cy="0"/>
          </a:xfrm>
          <a:prstGeom prst="line">
            <a:avLst/>
          </a:prstGeom>
          <a:noFill/>
          <a:ln w="25400">
            <a:solidFill>
              <a:srgbClr val="0D213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30752" y="1069848"/>
            <a:ext cx="1627632" cy="3703320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85032" y="1024128"/>
            <a:ext cx="1627632" cy="3703320"/>
          </a:xfrm>
          <a:prstGeom prst="rect">
            <a:avLst/>
          </a:prstGeom>
          <a:solidFill>
            <a:srgbClr val="FFFFFF"/>
          </a:solidFill>
          <a:ln w="25400">
            <a:solidFill>
              <a:srgbClr val="E651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85032" y="1024128"/>
            <a:ext cx="1627632" cy="6217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85032" y="1042416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685032" y="1371600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813048" y="1700784"/>
            <a:ext cx="1371600" cy="256032"/>
          </a:xfrm>
          <a:prstGeom prst="rect">
            <a:avLst/>
          </a:prstGeom>
          <a:solidFill>
            <a:srgbClr val="FFE0B2">
              <a:alpha val="60000"/>
            </a:srgbClr>
          </a:solidFill>
          <a:ln w="6350">
            <a:solidFill>
              <a:srgbClr val="E651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13048" y="17007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OpenCV+Marks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776472" y="2029968"/>
            <a:ext cx="146304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eye angle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to horizontal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Bicubic warpAffine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if no landmarks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330952" y="2907792"/>
            <a:ext cx="109728" cy="0"/>
          </a:xfrm>
          <a:prstGeom prst="line">
            <a:avLst/>
          </a:prstGeom>
          <a:noFill/>
          <a:ln w="25400">
            <a:solidFill>
              <a:srgbClr val="0D213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04688" y="1069848"/>
            <a:ext cx="1627632" cy="3703320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58968" y="1024128"/>
            <a:ext cx="1627632" cy="3703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5E2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58968" y="1024128"/>
            <a:ext cx="1627632" cy="62179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58968" y="1042416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458968" y="1371600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586984" y="1700784"/>
            <a:ext cx="1371600" cy="256032"/>
          </a:xfrm>
          <a:prstGeom prst="rect">
            <a:avLst/>
          </a:prstGeom>
          <a:solidFill>
            <a:srgbClr val="C8E6C9">
              <a:alpha val="60000"/>
            </a:srgbClr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86984" y="17007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CLAHE+OpenCV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550408" y="2029968"/>
            <a:ext cx="146304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to 224x224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on LAB L-channel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BGR to RGB convert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float32 range [0-1]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104888" y="2907792"/>
            <a:ext cx="109728" cy="0"/>
          </a:xfrm>
          <a:prstGeom prst="line">
            <a:avLst/>
          </a:prstGeom>
          <a:noFill/>
          <a:ln w="25400">
            <a:solidFill>
              <a:srgbClr val="0D213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78624" y="1069848"/>
            <a:ext cx="1627632" cy="3703320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232904" y="1024128"/>
            <a:ext cx="1627632" cy="3703320"/>
          </a:xfrm>
          <a:prstGeom prst="rect">
            <a:avLst/>
          </a:prstGeom>
          <a:solidFill>
            <a:srgbClr val="FFFFFF"/>
          </a:solidFill>
          <a:ln w="25400">
            <a:solidFill>
              <a:srgbClr val="880E4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32904" y="1024128"/>
            <a:ext cx="1627632" cy="621792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32904" y="1042416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7232904" y="1371600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360920" y="1700784"/>
            <a:ext cx="1371600" cy="256032"/>
          </a:xfrm>
          <a:prstGeom prst="rect">
            <a:avLst/>
          </a:prstGeom>
          <a:solidFill>
            <a:srgbClr val="F8BBD0">
              <a:alpha val="60000"/>
            </a:srgbClr>
          </a:solidFill>
          <a:ln w="6350">
            <a:solidFill>
              <a:srgbClr val="880E4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60920" y="17007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OpenCV+NumPy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324344" y="2029968"/>
            <a:ext cx="146304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split only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shift +/-40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+ rotate +/-12 deg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extra copies/image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37160" y="4800600"/>
            <a:ext cx="8869680" cy="2560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4800600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.npy arrays  |  (N, 224, 224, 3) float32  |  [0.0 to 1.0]  |  Saved to Google Drive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111E"/>
          </a:solidFill>
          <a:ln w="12700">
            <a:solidFill>
              <a:srgbClr val="0811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Handling, Pairing &amp; Splitting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raw images become structured train/val/test datasets ready for model input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1005840"/>
            <a:ext cx="4114800" cy="3931920"/>
          </a:xfrm>
          <a:prstGeom prst="rect">
            <a:avLst/>
          </a:prstGeom>
          <a:solidFill>
            <a:srgbClr val="0F2744"/>
          </a:solidFill>
          <a:ln w="12700">
            <a:solidFill>
              <a:srgbClr val="1E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005840"/>
            <a:ext cx="4114800" cy="402336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100584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Scanning &amp; Pair Building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536192"/>
            <a:ext cx="1024128" cy="2743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53619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26464" y="1554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.jpg .jpeg .png .bmp .webp recursively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121408"/>
            <a:ext cx="1024128" cy="2743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12140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Selfie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26464" y="21396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 selfie, live, real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706624"/>
            <a:ext cx="1024128" cy="2743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706624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Photo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26464" y="27249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 id, card, official, doc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291840"/>
            <a:ext cx="1024128" cy="2743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29184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426464" y="33101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2 images in folder become a pair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877056"/>
            <a:ext cx="1024128" cy="2743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87705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426464" y="38953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DataFrame: person_id, selfie_path, id_path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1005840"/>
            <a:ext cx="4297680" cy="3931920"/>
          </a:xfrm>
          <a:prstGeom prst="rect">
            <a:avLst/>
          </a:prstGeom>
          <a:solidFill>
            <a:srgbClr val="0F2744"/>
          </a:solidFill>
          <a:ln w="12700">
            <a:solidFill>
              <a:srgbClr val="1E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005840"/>
            <a:ext cx="4297680" cy="402336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00584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 Split  (sklearn)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00600" y="1554480"/>
            <a:ext cx="365760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15544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 70%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0600" y="193852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learns from this data. Augmentation x2 applied.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00600" y="2542032"/>
            <a:ext cx="777240" cy="3474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54203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 15%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00600" y="292608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Tunes model during training. No augmentation.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00600" y="3529584"/>
            <a:ext cx="777240" cy="347472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52958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 15%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00600" y="391363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unseen evaluation only. No augmentation.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63440" y="459028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random_state=42  for reproducibility  |  Saved as CSV metadata files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6101E"/>
          </a:solidFill>
          <a:ln w="12700">
            <a:solidFill>
              <a:srgbClr val="06101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Face Detection &amp; Preprocessing Pipeline  •  Slide 5 of 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Model-Ready Verification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report, success rate and final output format confirmation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9875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QUALITY REPORT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80160"/>
          <a:ext cx="5029200" cy="1298448"/>
        </p:xfrm>
        <a:graphic>
          <a:graphicData uri="http://schemas.openxmlformats.org/drawingml/2006/table">
            <a:tbl>
              <a:tblPr/>
              <a:tblGrid>
                <a:gridCol w="914400"/>
                <a:gridCol w="777240"/>
                <a:gridCol w="1234440"/>
                <a:gridCol w="914400"/>
                <a:gridCol w="777240"/>
                <a:gridCol w="4114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Processed 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7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7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C4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2724912"/>
            <a:ext cx="5029200" cy="457200"/>
          </a:xfrm>
          <a:prstGeom prst="rect">
            <a:avLst/>
          </a:prstGeom>
          <a:solidFill>
            <a:srgbClr val="E8F5E9"/>
          </a:solidFill>
          <a:ln w="19050">
            <a:solidFill>
              <a:srgbClr val="00C85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27249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Pipeline Success Rate:  94.7%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74320" y="33192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MODEL-READY OUTPUT CHECKS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74320" y="3621024"/>
            <a:ext cx="1572768" cy="841248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74320" y="363931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74320" y="389534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74320" y="409651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(N, 224, 224, 3)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011680" y="3621024"/>
            <a:ext cx="1572768" cy="841248"/>
          </a:xfrm>
          <a:prstGeom prst="rect">
            <a:avLst/>
          </a:prstGeom>
          <a:solidFill>
            <a:srgbClr val="FFFFFF"/>
          </a:solidFill>
          <a:ln w="25400">
            <a:solidFill>
              <a:srgbClr val="0069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2011680" y="363931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011680" y="389534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dtype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11680" y="409651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float32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749040" y="3621024"/>
            <a:ext cx="1572768" cy="841248"/>
          </a:xfrm>
          <a:prstGeom prst="rect">
            <a:avLst/>
          </a:prstGeom>
          <a:solidFill>
            <a:srgbClr val="FFFFFF"/>
          </a:solidFill>
          <a:ln w="2540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3749040" y="363931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749040" y="389534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749040" y="409651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[0.0 to 1.0]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623560" y="1005840"/>
            <a:ext cx="3337560" cy="3950208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623560" y="104241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Folder Structure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742432" y="138988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preprocessed_output/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742432" y="16642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train/selfies/ (.npy)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742432" y="19385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train/ids/ (.npy)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742432" y="22128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val/selfies/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742432" y="24871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val/ids/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742432" y="276148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test/selfies/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742432" y="30358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test/ids/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742432" y="33101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train_metadata.csv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742432" y="35844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val_metadata.csv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742432" y="38587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test_metadata.csv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742432" y="413308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preprocessing_stats.json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742432" y="44074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sample_faces.png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6101E"/>
          </a:solidFill>
          <a:ln w="12700">
            <a:solidFill>
              <a:srgbClr val="06101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Face Detection &amp; Preprocessing Pipeline  •  Slide 6 of 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2026-03-17T15:29:46Z</dcterms:created>
  <dcterms:modified xsi:type="dcterms:W3CDTF">2026-03-17T15:29:46Z</dcterms:modified>
</cp:coreProperties>
</file>