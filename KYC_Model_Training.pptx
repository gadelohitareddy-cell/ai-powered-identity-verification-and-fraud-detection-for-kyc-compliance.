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841248" cy="2331720"/>
          </a:xfrm>
          <a:prstGeom prst="rect">
            <a:avLst/>
          </a:prstGeom>
          <a:solidFill>
            <a:srgbClr val="111830">
              <a:alpha val="80000"/>
            </a:srgbClr>
          </a:solidFill>
          <a:ln w="6350">
            <a:solidFill>
              <a:srgbClr val="2A3A6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0"/>
            <a:ext cx="841248" cy="2331720"/>
          </a:xfrm>
          <a:prstGeom prst="rect">
            <a:avLst/>
          </a:prstGeom>
          <a:solidFill>
            <a:srgbClr val="111830">
              <a:alpha val="80000"/>
            </a:srgbClr>
          </a:solidFill>
          <a:ln w="6350">
            <a:solidFill>
              <a:srgbClr val="2A3A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0"/>
            <a:ext cx="841248" cy="2331720"/>
          </a:xfrm>
          <a:prstGeom prst="rect">
            <a:avLst/>
          </a:prstGeom>
          <a:solidFill>
            <a:srgbClr val="111830">
              <a:alpha val="80000"/>
            </a:srgbClr>
          </a:solidFill>
          <a:ln w="6350">
            <a:solidFill>
              <a:srgbClr val="2A3A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0" y="2560320"/>
            <a:ext cx="841248" cy="2331720"/>
          </a:xfrm>
          <a:prstGeom prst="rect">
            <a:avLst/>
          </a:prstGeom>
          <a:solidFill>
            <a:srgbClr val="111830">
              <a:alpha val="80000"/>
            </a:srgbClr>
          </a:solidFill>
          <a:ln w="6350">
            <a:solidFill>
              <a:srgbClr val="2A3A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2560320"/>
            <a:ext cx="841248" cy="2331720"/>
          </a:xfrm>
          <a:prstGeom prst="rect">
            <a:avLst/>
          </a:prstGeom>
          <a:solidFill>
            <a:srgbClr val="111830">
              <a:alpha val="80000"/>
            </a:srgbClr>
          </a:solidFill>
          <a:ln w="6350">
            <a:solidFill>
              <a:srgbClr val="2A3A6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2560320"/>
            <a:ext cx="841248" cy="2331720"/>
          </a:xfrm>
          <a:prstGeom prst="rect">
            <a:avLst/>
          </a:prstGeom>
          <a:solidFill>
            <a:srgbClr val="111830">
              <a:alpha val="80000"/>
            </a:srgbClr>
          </a:solidFill>
          <a:ln w="6350">
            <a:solidFill>
              <a:srgbClr val="2A3A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502920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12070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Architecture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1956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Face Verification — Part 2: Training the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5029200" cy="0"/>
          </a:xfrm>
          <a:prstGeom prst="line">
            <a:avLst/>
          </a:prstGeom>
          <a:noFill/>
          <a:ln w="19050">
            <a:solidFill>
              <a:srgbClr val="7C4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786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Type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55648" y="25786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55648" y="2926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45536" y="25786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145536" y="2926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Size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35424" y="25786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35424" y="29260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60A14"/>
          </a:solidFill>
          <a:ln w="12700">
            <a:solidFill>
              <a:srgbClr val="060A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2.19  •  Keras  •  Siamese Network  •  ArcFace Loss  •  FaceNet  •  EfficientNet  •  ResNet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— End-to-End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preprocessed .npy arrays to a trained, evaluated face verification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1042416"/>
            <a:ext cx="1591056" cy="1591056"/>
          </a:xfrm>
          <a:prstGeom prst="rect">
            <a:avLst/>
          </a:prstGeom>
          <a:solidFill>
            <a:srgbClr val="C8C4E0"/>
          </a:solidFill>
          <a:ln w="12700">
            <a:solidFill>
              <a:srgbClr val="C8C4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1005840"/>
            <a:ext cx="1591056" cy="1591056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005840"/>
            <a:ext cx="1591056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10058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" y="13898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" y="1700784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.npy files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tf.data pipeline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73936" y="1801368"/>
            <a:ext cx="146304" cy="0"/>
          </a:xfrm>
          <a:prstGeom prst="line">
            <a:avLst/>
          </a:prstGeom>
          <a:noFill/>
          <a:ln w="19050">
            <a:solidFill>
              <a:srgbClr val="0D18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75104" y="1042416"/>
            <a:ext cx="1591056" cy="1591056"/>
          </a:xfrm>
          <a:prstGeom prst="rect">
            <a:avLst/>
          </a:prstGeom>
          <a:solidFill>
            <a:srgbClr val="C8C4E0"/>
          </a:solidFill>
          <a:ln w="12700">
            <a:solidFill>
              <a:srgbClr val="C8C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38528" y="1005840"/>
            <a:ext cx="1591056" cy="1591056"/>
          </a:xfrm>
          <a:prstGeom prst="rect">
            <a:avLst/>
          </a:prstGeom>
          <a:solidFill>
            <a:srgbClr val="FFFFFF"/>
          </a:solidFill>
          <a:ln w="25400">
            <a:solidFill>
              <a:srgbClr val="4A14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38528" y="1005840"/>
            <a:ext cx="1591056" cy="34747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0058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38528" y="13898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Model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38528" y="1700784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 network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backbone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547872" y="1801368"/>
            <a:ext cx="146304" cy="0"/>
          </a:xfrm>
          <a:prstGeom prst="line">
            <a:avLst/>
          </a:prstGeom>
          <a:noFill/>
          <a:ln w="19050">
            <a:solidFill>
              <a:srgbClr val="0D18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1042416"/>
            <a:ext cx="1591056" cy="1591056"/>
          </a:xfrm>
          <a:prstGeom prst="rect">
            <a:avLst/>
          </a:prstGeom>
          <a:solidFill>
            <a:srgbClr val="C8C4E0"/>
          </a:solidFill>
          <a:ln w="12700">
            <a:solidFill>
              <a:srgbClr val="C8C4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12464" y="1005840"/>
            <a:ext cx="1591056" cy="1591056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12464" y="1005840"/>
            <a:ext cx="1591056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2464" y="10058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12464" y="13898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12464" y="1700784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loss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margin 0.5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21808" y="1801368"/>
            <a:ext cx="146304" cy="0"/>
          </a:xfrm>
          <a:prstGeom prst="line">
            <a:avLst/>
          </a:prstGeom>
          <a:noFill/>
          <a:ln w="19050">
            <a:solidFill>
              <a:srgbClr val="0D18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22976" y="1042416"/>
            <a:ext cx="1591056" cy="1591056"/>
          </a:xfrm>
          <a:prstGeom prst="rect">
            <a:avLst/>
          </a:prstGeom>
          <a:solidFill>
            <a:srgbClr val="C8C4E0"/>
          </a:solidFill>
          <a:ln w="12700">
            <a:solidFill>
              <a:srgbClr val="C8C4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005840"/>
            <a:ext cx="1591056" cy="1591056"/>
          </a:xfrm>
          <a:prstGeom prst="rect">
            <a:avLst/>
          </a:prstGeom>
          <a:solidFill>
            <a:srgbClr val="FFFFFF"/>
          </a:solidFill>
          <a:ln w="25400">
            <a:solidFill>
              <a:srgbClr val="004D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1005840"/>
            <a:ext cx="1591056" cy="347472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10058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0" y="13898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0" y="1700784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1e-4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95744" y="1801368"/>
            <a:ext cx="146304" cy="0"/>
          </a:xfrm>
          <a:prstGeom prst="line">
            <a:avLst/>
          </a:prstGeom>
          <a:noFill/>
          <a:ln w="19050">
            <a:solidFill>
              <a:srgbClr val="0D18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96912" y="1042416"/>
            <a:ext cx="1591056" cy="1591056"/>
          </a:xfrm>
          <a:prstGeom prst="rect">
            <a:avLst/>
          </a:prstGeom>
          <a:solidFill>
            <a:srgbClr val="C8C4E0"/>
          </a:solidFill>
          <a:ln w="12700">
            <a:solidFill>
              <a:srgbClr val="C8C4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60336" y="1005840"/>
            <a:ext cx="1591056" cy="1591056"/>
          </a:xfrm>
          <a:prstGeom prst="rect">
            <a:avLst/>
          </a:prstGeom>
          <a:solidFill>
            <a:srgbClr val="FFFFFF"/>
          </a:solidFill>
          <a:ln w="25400">
            <a:solidFill>
              <a:srgbClr val="880E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0336" y="1005840"/>
            <a:ext cx="1591056" cy="34747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0336" y="10058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60336" y="13898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Loop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60336" y="1700784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50-100 epochs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32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01168" y="2871216"/>
            <a:ext cx="1591056" cy="1591056"/>
          </a:xfrm>
          <a:prstGeom prst="rect">
            <a:avLst/>
          </a:prstGeom>
          <a:solidFill>
            <a:srgbClr val="C8C4E0"/>
          </a:solidFill>
          <a:ln w="12700">
            <a:solidFill>
              <a:srgbClr val="C8C4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4592" y="2834640"/>
            <a:ext cx="1591056" cy="1591056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4592" y="2834640"/>
            <a:ext cx="1591056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28346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64592" y="32186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64592" y="3529584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check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773936" y="3630168"/>
            <a:ext cx="146304" cy="0"/>
          </a:xfrm>
          <a:prstGeom prst="line">
            <a:avLst/>
          </a:prstGeom>
          <a:noFill/>
          <a:ln w="19050">
            <a:solidFill>
              <a:srgbClr val="0D183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75104" y="2871216"/>
            <a:ext cx="1591056" cy="1591056"/>
          </a:xfrm>
          <a:prstGeom prst="rect">
            <a:avLst/>
          </a:prstGeom>
          <a:solidFill>
            <a:srgbClr val="C8C4E0"/>
          </a:solidFill>
          <a:ln w="12700">
            <a:solidFill>
              <a:srgbClr val="C8C4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38528" y="2834640"/>
            <a:ext cx="1591056" cy="1591056"/>
          </a:xfrm>
          <a:prstGeom prst="rect">
            <a:avLst/>
          </a:prstGeom>
          <a:solidFill>
            <a:srgbClr val="FFFFFF"/>
          </a:solidFill>
          <a:ln w="25400">
            <a:solidFill>
              <a:srgbClr val="1A237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38528" y="2834640"/>
            <a:ext cx="1591056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38528" y="28346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938528" y="32186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938528" y="3529584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@ FAR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curve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547872" y="3630168"/>
            <a:ext cx="146304" cy="0"/>
          </a:xfrm>
          <a:prstGeom prst="line">
            <a:avLst/>
          </a:prstGeom>
          <a:noFill/>
          <a:ln w="19050">
            <a:solidFill>
              <a:srgbClr val="0D183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49040" y="2871216"/>
            <a:ext cx="1591056" cy="1591056"/>
          </a:xfrm>
          <a:prstGeom prst="rect">
            <a:avLst/>
          </a:prstGeom>
          <a:solidFill>
            <a:srgbClr val="C8C4E0"/>
          </a:solidFill>
          <a:ln w="12700">
            <a:solidFill>
              <a:srgbClr val="C8C4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12464" y="2834640"/>
            <a:ext cx="1591056" cy="1591056"/>
          </a:xfrm>
          <a:prstGeom prst="rect">
            <a:avLst/>
          </a:prstGeom>
          <a:solidFill>
            <a:srgbClr val="FFFFFF"/>
          </a:solidFill>
          <a:ln w="25400">
            <a:solidFill>
              <a:srgbClr val="BF360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12464" y="2834640"/>
            <a:ext cx="1591056" cy="34747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12464" y="28346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3712464" y="32186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712464" y="3529584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&gt;= 0.7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decision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321808" y="3630168"/>
            <a:ext cx="146304" cy="0"/>
          </a:xfrm>
          <a:prstGeom prst="line">
            <a:avLst/>
          </a:prstGeom>
          <a:noFill/>
          <a:ln w="19050">
            <a:solidFill>
              <a:srgbClr val="0D183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22976" y="2871216"/>
            <a:ext cx="1591056" cy="1591056"/>
          </a:xfrm>
          <a:prstGeom prst="rect">
            <a:avLst/>
          </a:prstGeom>
          <a:solidFill>
            <a:srgbClr val="C8C4E0"/>
          </a:solidFill>
          <a:ln w="12700">
            <a:solidFill>
              <a:srgbClr val="C8C4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86400" y="2834640"/>
            <a:ext cx="1591056" cy="1591056"/>
          </a:xfrm>
          <a:prstGeom prst="rect">
            <a:avLst/>
          </a:prstGeom>
          <a:solidFill>
            <a:srgbClr val="FFFFFF"/>
          </a:solidFill>
          <a:ln w="25400">
            <a:solidFill>
              <a:srgbClr val="37474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86400" y="2834640"/>
            <a:ext cx="1591056" cy="34747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28346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486400" y="32186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486400" y="3529584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SavedModel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.h5 weights file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095744" y="3630168"/>
            <a:ext cx="146304" cy="0"/>
          </a:xfrm>
          <a:prstGeom prst="line">
            <a:avLst/>
          </a:prstGeom>
          <a:noFill/>
          <a:ln w="19050">
            <a:solidFill>
              <a:srgbClr val="0D183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296912" y="2871216"/>
            <a:ext cx="1591056" cy="1591056"/>
          </a:xfrm>
          <a:prstGeom prst="rect">
            <a:avLst/>
          </a:prstGeom>
          <a:solidFill>
            <a:srgbClr val="C8C4E0"/>
          </a:solidFill>
          <a:ln w="12700">
            <a:solidFill>
              <a:srgbClr val="C8C4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260336" y="2834640"/>
            <a:ext cx="1591056" cy="1591056"/>
          </a:xfrm>
          <a:prstGeom prst="rect">
            <a:avLst/>
          </a:prstGeom>
          <a:solidFill>
            <a:srgbClr val="FFFFFF"/>
          </a:solidFill>
          <a:ln w="25400">
            <a:solidFill>
              <a:srgbClr val="00606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60336" y="2834640"/>
            <a:ext cx="1591056" cy="34747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60336" y="283464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7260336" y="32186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/ KYC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260336" y="3529584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Selfie vs 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906256" y="1828800"/>
            <a:ext cx="0" cy="420624"/>
          </a:xfrm>
          <a:prstGeom prst="line">
            <a:avLst/>
          </a:prstGeom>
          <a:noFill/>
          <a:ln w="19050">
            <a:solidFill>
              <a:srgbClr val="0D183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4592" y="2249424"/>
            <a:ext cx="8741664" cy="0"/>
          </a:xfrm>
          <a:prstGeom prst="line">
            <a:avLst/>
          </a:prstGeom>
          <a:noFill/>
          <a:ln w="12700">
            <a:solidFill>
              <a:srgbClr val="0D183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4592" y="2249424"/>
            <a:ext cx="0" cy="566928"/>
          </a:xfrm>
          <a:prstGeom prst="line">
            <a:avLst/>
          </a:prstGeom>
          <a:noFill/>
          <a:ln w="19050">
            <a:solidFill>
              <a:srgbClr val="0D183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6091A"/>
          </a:solidFill>
          <a:ln w="12700">
            <a:solidFill>
              <a:srgbClr val="06091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Model Training  •  Slide 2 of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 for Face Verification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architectures used with 224x224 preprocessed face tensors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069848"/>
            <a:ext cx="1627632" cy="3703320"/>
          </a:xfrm>
          <a:prstGeom prst="rect">
            <a:avLst/>
          </a:prstGeom>
          <a:solidFill>
            <a:srgbClr val="C8C0E0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1024128"/>
            <a:ext cx="1627632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1042416"/>
            <a:ext cx="1627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" y="13807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Network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5176" y="1673352"/>
            <a:ext cx="1371600" cy="237744"/>
          </a:xfrm>
          <a:prstGeom prst="rect">
            <a:avLst/>
          </a:prstGeom>
          <a:solidFill>
            <a:srgbClr val="BBDEFB">
              <a:alpha val="60000"/>
            </a:srgbClr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" y="16733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8600" y="1975104"/>
            <a:ext cx="146304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prevent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vanishing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ResNet-50/101 backbone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feature extractor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224x224 direct input match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56816" y="1069848"/>
            <a:ext cx="1627632" cy="3703320"/>
          </a:xfrm>
          <a:prstGeom prst="rect">
            <a:avLst/>
          </a:prstGeom>
          <a:solidFill>
            <a:srgbClr val="C8C0E0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11096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9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11096" y="1024128"/>
            <a:ext cx="1627632" cy="5943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11096" y="1042416"/>
            <a:ext cx="1627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11096" y="13807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039112" y="1673352"/>
            <a:ext cx="1371600" cy="237744"/>
          </a:xfrm>
          <a:prstGeom prst="rect">
            <a:avLst/>
          </a:prstGeom>
          <a:solidFill>
            <a:srgbClr val="B2DFDB">
              <a:alpha val="60000"/>
            </a:srgbClr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39112" y="16733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002536" y="1975104"/>
            <a:ext cx="146304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depth, width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resolution together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 to B4 variants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accuracy-efficiency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params than ResNet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30752" y="1069848"/>
            <a:ext cx="1627632" cy="3703320"/>
          </a:xfrm>
          <a:prstGeom prst="rect">
            <a:avLst/>
          </a:prstGeom>
          <a:solidFill>
            <a:srgbClr val="C8C0E0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85032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85032" y="1024128"/>
            <a:ext cx="1627632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5032" y="1042416"/>
            <a:ext cx="1627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85032" y="13807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 Embedding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13048" y="1673352"/>
            <a:ext cx="1371600" cy="237744"/>
          </a:xfrm>
          <a:prstGeom prst="rect">
            <a:avLst/>
          </a:prstGeom>
          <a:solidFill>
            <a:srgbClr val="FFE0B2">
              <a:alpha val="6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13048" y="16733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776472" y="1975104"/>
            <a:ext cx="146304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face to 128-D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vector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Triplet loss training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 compare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for match decision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04688" y="1069848"/>
            <a:ext cx="1627632" cy="3703320"/>
          </a:xfrm>
          <a:prstGeom prst="rect">
            <a:avLst/>
          </a:prstGeom>
          <a:solidFill>
            <a:srgbClr val="C8C0E0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58968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58968" y="1024128"/>
            <a:ext cx="1627632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58968" y="1042416"/>
            <a:ext cx="1627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58968" y="13807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Margin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586984" y="1673352"/>
            <a:ext cx="1371600" cy="237744"/>
          </a:xfrm>
          <a:prstGeom prst="rect">
            <a:avLst/>
          </a:prstGeom>
          <a:solidFill>
            <a:srgbClr val="E1BEE7">
              <a:alpha val="60000"/>
            </a:srgbClr>
          </a:solidFill>
          <a:ln w="6350">
            <a:solidFill>
              <a:srgbClr val="6A1B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86984" y="16733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550408" y="1975104"/>
            <a:ext cx="146304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angular margin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softmax loss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identities apart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accuracy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discriminative embeds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78624" y="1069848"/>
            <a:ext cx="1627632" cy="3703320"/>
          </a:xfrm>
          <a:prstGeom prst="rect">
            <a:avLst/>
          </a:prstGeom>
          <a:solidFill>
            <a:srgbClr val="C8C0E0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32904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80E4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32904" y="1024128"/>
            <a:ext cx="1627632" cy="59436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32904" y="1042416"/>
            <a:ext cx="16276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 Net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32904" y="13807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KYC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360920" y="1673352"/>
            <a:ext cx="1371600" cy="237744"/>
          </a:xfrm>
          <a:prstGeom prst="rect">
            <a:avLst/>
          </a:prstGeom>
          <a:solidFill>
            <a:srgbClr val="F8BBD0">
              <a:alpha val="60000"/>
            </a:srgbClr>
          </a:solidFill>
          <a:ln w="6350">
            <a:solidFill>
              <a:srgbClr val="880E4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60920" y="16733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214616" y="996696"/>
            <a:ext cx="1664208" cy="3767328"/>
          </a:xfrm>
          <a:prstGeom prst="rect">
            <a:avLst/>
          </a:prstGeom>
          <a:solidFill>
            <a:srgbClr val="000000"/>
          </a:solidFill>
          <a:ln w="31750">
            <a:solidFill>
              <a:srgbClr val="FFD7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24344" y="1975104"/>
            <a:ext cx="146304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branches,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CNN weights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selfie, one ID branch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output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KYC pair comparison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6091A"/>
          </a:solidFill>
          <a:ln w="12700">
            <a:solidFill>
              <a:srgbClr val="0609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Model Training  •  Slide 3 of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91A"/>
          </a:solidFill>
          <a:ln w="12700">
            <a:solidFill>
              <a:srgbClr val="0609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 Network — Architecture Deep Dive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branches, shared weights — designed for selfie vs ID photo comparison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4592" y="1024128"/>
            <a:ext cx="2971800" cy="3310128"/>
          </a:xfrm>
          <a:prstGeom prst="rect">
            <a:avLst/>
          </a:prstGeom>
          <a:solidFill>
            <a:srgbClr val="111830"/>
          </a:solidFill>
          <a:ln w="254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024128"/>
            <a:ext cx="2971800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02412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 —  SELFIE 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499616"/>
            <a:ext cx="2633472" cy="283464"/>
          </a:xfrm>
          <a:prstGeom prst="rect">
            <a:avLst/>
          </a:prstGeom>
          <a:solidFill>
            <a:srgbClr val="1A3A6C">
              <a:alpha val="80000"/>
            </a:srgbClr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499616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(224, 224, 3)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" y="1847088"/>
            <a:ext cx="2633472" cy="283464"/>
          </a:xfrm>
          <a:prstGeom prst="rect">
            <a:avLst/>
          </a:prstGeom>
          <a:solidFill>
            <a:srgbClr val="1A3A6C">
              <a:alpha val="80000"/>
            </a:srgbClr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847088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x4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" y="2194560"/>
            <a:ext cx="2633472" cy="283464"/>
          </a:xfrm>
          <a:prstGeom prst="rect">
            <a:avLst/>
          </a:prstGeom>
          <a:solidFill>
            <a:srgbClr val="1A3A6C">
              <a:alpha val="80000"/>
            </a:srgbClr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194560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" y="2542032"/>
            <a:ext cx="2633472" cy="283464"/>
          </a:xfrm>
          <a:prstGeom prst="rect">
            <a:avLst/>
          </a:prstGeom>
          <a:solidFill>
            <a:srgbClr val="1A3A6C">
              <a:alpha val="80000"/>
            </a:srgbClr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542032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" y="2889504"/>
            <a:ext cx="2633472" cy="283464"/>
          </a:xfrm>
          <a:prstGeom prst="rect">
            <a:avLst/>
          </a:prstGeom>
          <a:solidFill>
            <a:srgbClr val="1A3A6C">
              <a:alpha val="80000"/>
            </a:srgbClr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889504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512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" y="3236976"/>
            <a:ext cx="2633472" cy="283464"/>
          </a:xfrm>
          <a:prstGeom prst="rect">
            <a:avLst/>
          </a:prstGeom>
          <a:solidFill>
            <a:srgbClr val="1A3A6C">
              <a:alpha val="80000"/>
            </a:srgbClr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3236976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Normalize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" y="3584448"/>
            <a:ext cx="2633472" cy="283464"/>
          </a:xfrm>
          <a:prstGeom prst="rect">
            <a:avLst/>
          </a:prstGeom>
          <a:solidFill>
            <a:srgbClr val="1565C0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3584448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 128-D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1691640"/>
            <a:ext cx="2468880" cy="384048"/>
          </a:xfrm>
          <a:prstGeom prst="rect">
            <a:avLst/>
          </a:prstGeom>
          <a:solidFill>
            <a:srgbClr val="7C4DFF">
              <a:alpha val="80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WEIGHTS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2121408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use identical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backbone parameters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01568" y="2651760"/>
            <a:ext cx="2331720" cy="713232"/>
          </a:xfrm>
          <a:prstGeom prst="rect">
            <a:avLst/>
          </a:prstGeom>
          <a:solidFill>
            <a:srgbClr val="1A0A30"/>
          </a:solidFill>
          <a:ln w="19050">
            <a:solidFill>
              <a:srgbClr val="7C4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2670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01568" y="29443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sim(A,B) = A·B / |A||B|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56432" y="3493008"/>
            <a:ext cx="2231136" cy="329184"/>
          </a:xfrm>
          <a:prstGeom prst="rect">
            <a:avLst/>
          </a:prstGeom>
          <a:solidFill>
            <a:srgbClr val="00E676">
              <a:alpha val="7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3493008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&gt;= 0.7  =&gt;  MATCH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56432" y="3913632"/>
            <a:ext cx="2231136" cy="329184"/>
          </a:xfrm>
          <a:prstGeom prst="rect">
            <a:avLst/>
          </a:prstGeom>
          <a:solidFill>
            <a:srgbClr val="FF4081">
              <a:alpha val="75000"/>
            </a:srgbClr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3913632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0.7  =&gt;  NO MATCH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07608" y="1024128"/>
            <a:ext cx="2971800" cy="3310128"/>
          </a:xfrm>
          <a:prstGeom prst="rect">
            <a:avLst/>
          </a:prstGeom>
          <a:solidFill>
            <a:srgbClr val="111830"/>
          </a:solidFill>
          <a:ln w="25400">
            <a:solidFill>
              <a:srgbClr val="EC40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07608" y="1024128"/>
            <a:ext cx="2971800" cy="402336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07608" y="102412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  —  ID PHOTO INPUT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1499616"/>
            <a:ext cx="2633472" cy="283464"/>
          </a:xfrm>
          <a:prstGeom prst="rect">
            <a:avLst/>
          </a:prstGeom>
          <a:solidFill>
            <a:srgbClr val="3A0A28">
              <a:alpha val="80000"/>
            </a:srgbClr>
          </a:solidFill>
          <a:ln w="6350">
            <a:solidFill>
              <a:srgbClr val="4A1A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1499616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(224, 224, 3)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72200" y="1847088"/>
            <a:ext cx="2633472" cy="283464"/>
          </a:xfrm>
          <a:prstGeom prst="rect">
            <a:avLst/>
          </a:prstGeom>
          <a:solidFill>
            <a:srgbClr val="3A0A28">
              <a:alpha val="80000"/>
            </a:srgbClr>
          </a:solidFill>
          <a:ln w="6350">
            <a:solidFill>
              <a:srgbClr val="4A1A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1847088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x4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2194560"/>
            <a:ext cx="2633472" cy="283464"/>
          </a:xfrm>
          <a:prstGeom prst="rect">
            <a:avLst/>
          </a:prstGeom>
          <a:solidFill>
            <a:srgbClr val="3A0A28">
              <a:alpha val="80000"/>
            </a:srgbClr>
          </a:solidFill>
          <a:ln w="6350">
            <a:solidFill>
              <a:srgbClr val="4A1A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194560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72200" y="2542032"/>
            <a:ext cx="2633472" cy="283464"/>
          </a:xfrm>
          <a:prstGeom prst="rect">
            <a:avLst/>
          </a:prstGeom>
          <a:solidFill>
            <a:srgbClr val="3A0A28">
              <a:alpha val="80000"/>
            </a:srgbClr>
          </a:solidFill>
          <a:ln w="6350">
            <a:solidFill>
              <a:srgbClr val="4A1A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542032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172200" y="2889504"/>
            <a:ext cx="2633472" cy="283464"/>
          </a:xfrm>
          <a:prstGeom prst="rect">
            <a:avLst/>
          </a:prstGeom>
          <a:solidFill>
            <a:srgbClr val="3A0A28">
              <a:alpha val="80000"/>
            </a:srgbClr>
          </a:solidFill>
          <a:ln w="6350">
            <a:solidFill>
              <a:srgbClr val="4A1A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2889504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512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72200" y="3236976"/>
            <a:ext cx="2633472" cy="283464"/>
          </a:xfrm>
          <a:prstGeom prst="rect">
            <a:avLst/>
          </a:prstGeom>
          <a:solidFill>
            <a:srgbClr val="3A0A28">
              <a:alpha val="80000"/>
            </a:srgbClr>
          </a:solidFill>
          <a:ln w="6350">
            <a:solidFill>
              <a:srgbClr val="4A1A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3236976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Normalize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72200" y="3584448"/>
            <a:ext cx="2633472" cy="283464"/>
          </a:xfrm>
          <a:prstGeom prst="rect">
            <a:avLst/>
          </a:prstGeom>
          <a:solidFill>
            <a:srgbClr val="3A0A28"/>
          </a:solidFill>
          <a:ln w="19050">
            <a:solidFill>
              <a:srgbClr val="F48FB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3584448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 128-D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6091A"/>
          </a:solidFill>
          <a:ln w="12700">
            <a:solidFill>
              <a:srgbClr val="0609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Model Training  •  Slide 4 of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— Step by Step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loading data to saving the final trained 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" y="1069848"/>
            <a:ext cx="1627632" cy="3703320"/>
          </a:xfrm>
          <a:prstGeom prst="rect">
            <a:avLst/>
          </a:prstGeom>
          <a:solidFill>
            <a:srgbClr val="C8C0E0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" y="1024128"/>
            <a:ext cx="1627632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10424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" y="13716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" y="1700784"/>
            <a:ext cx="1371600" cy="256032"/>
          </a:xfrm>
          <a:prstGeom prst="rect">
            <a:avLst/>
          </a:prstGeom>
          <a:solidFill>
            <a:srgbClr val="BBDEFB">
              <a:alpha val="60000"/>
            </a:srgbClr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tf.data API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8600" y="2029968"/>
            <a:ext cx="14630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.npy selfie+ID files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tf.data.Dataset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= 32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+ prefetch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83080" y="2907792"/>
            <a:ext cx="109728" cy="0"/>
          </a:xfrm>
          <a:prstGeom prst="line">
            <a:avLst/>
          </a:prstGeom>
          <a:noFill/>
          <a:ln w="25400">
            <a:solidFill>
              <a:srgbClr val="0D18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56816" y="1069848"/>
            <a:ext cx="1627632" cy="3703320"/>
          </a:xfrm>
          <a:prstGeom prst="rect">
            <a:avLst/>
          </a:prstGeom>
          <a:solidFill>
            <a:srgbClr val="C8C0E0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11096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4A14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11096" y="1024128"/>
            <a:ext cx="1627632" cy="62179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11096" y="10424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11096" y="13716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39112" y="1700784"/>
            <a:ext cx="1371600" cy="256032"/>
          </a:xfrm>
          <a:prstGeom prst="rect">
            <a:avLst/>
          </a:prstGeom>
          <a:solidFill>
            <a:srgbClr val="E1BEE7">
              <a:alpha val="60000"/>
            </a:srgbClr>
          </a:solidFill>
          <a:ln w="6350">
            <a:solidFill>
              <a:srgbClr val="4A14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9112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/ TF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02536" y="2029968"/>
            <a:ext cx="14630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 architecture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CNN backbone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 L2 embedding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layer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57016" y="2907792"/>
            <a:ext cx="109728" cy="0"/>
          </a:xfrm>
          <a:prstGeom prst="line">
            <a:avLst/>
          </a:prstGeom>
          <a:noFill/>
          <a:ln w="25400">
            <a:solidFill>
              <a:srgbClr val="0D18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1069848"/>
            <a:ext cx="1627632" cy="3703320"/>
          </a:xfrm>
          <a:prstGeom prst="rect">
            <a:avLst/>
          </a:prstGeom>
          <a:solidFill>
            <a:srgbClr val="C8C0E0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85032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85032" y="1024128"/>
            <a:ext cx="1627632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85032" y="10424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685032" y="13716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OPT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13048" y="1700784"/>
            <a:ext cx="1371600" cy="256032"/>
          </a:xfrm>
          <a:prstGeom prst="rect">
            <a:avLst/>
          </a:prstGeom>
          <a:solidFill>
            <a:srgbClr val="FFE0B2">
              <a:alpha val="6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13048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+ Adam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76472" y="2029968"/>
            <a:ext cx="14630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angular margin=0.5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 wrong pairs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LR = 1e-4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= 1e-5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30952" y="2907792"/>
            <a:ext cx="109728" cy="0"/>
          </a:xfrm>
          <a:prstGeom prst="line">
            <a:avLst/>
          </a:prstGeom>
          <a:noFill/>
          <a:ln w="25400">
            <a:solidFill>
              <a:srgbClr val="0D18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04688" y="1069848"/>
            <a:ext cx="1627632" cy="3703320"/>
          </a:xfrm>
          <a:prstGeom prst="rect">
            <a:avLst/>
          </a:prstGeom>
          <a:solidFill>
            <a:srgbClr val="C8C0E0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58968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58968" y="1024128"/>
            <a:ext cx="1627632" cy="6217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8968" y="10424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58968" y="13716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LOOP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86984" y="1700784"/>
            <a:ext cx="1371600" cy="256032"/>
          </a:xfrm>
          <a:prstGeom prst="rect">
            <a:avLst/>
          </a:prstGeom>
          <a:solidFill>
            <a:srgbClr val="C8E6C9">
              <a:alpha val="60000"/>
            </a:srgbClr>
          </a:solidFill>
          <a:ln w="6350">
            <a:solidFill>
              <a:srgbClr val="1B5E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86984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model.fit()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50408" y="2029968"/>
            <a:ext cx="14630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to 100 epochs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val loss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callback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104888" y="2907792"/>
            <a:ext cx="109728" cy="0"/>
          </a:xfrm>
          <a:prstGeom prst="line">
            <a:avLst/>
          </a:prstGeom>
          <a:noFill/>
          <a:ln w="25400">
            <a:solidFill>
              <a:srgbClr val="0D183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78624" y="1069848"/>
            <a:ext cx="1627632" cy="3703320"/>
          </a:xfrm>
          <a:prstGeom prst="rect">
            <a:avLst/>
          </a:prstGeom>
          <a:solidFill>
            <a:srgbClr val="C8C0E0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32904" y="1024128"/>
            <a:ext cx="1627632" cy="3703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80E4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32904" y="1024128"/>
            <a:ext cx="1627632" cy="62179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32904" y="104241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232904" y="137160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60920" y="1700784"/>
            <a:ext cx="1371600" cy="256032"/>
          </a:xfrm>
          <a:prstGeom prst="rect">
            <a:avLst/>
          </a:prstGeom>
          <a:solidFill>
            <a:srgbClr val="F8BBD0">
              <a:alpha val="60000"/>
            </a:srgbClr>
          </a:solidFill>
          <a:ln w="6350">
            <a:solidFill>
              <a:srgbClr val="880E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60920" y="1700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metrics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24344" y="2029968"/>
            <a:ext cx="146304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 inference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@ FAR = 0.1%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curve plot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0.70 tuned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37160" y="4800600"/>
            <a:ext cx="8869680" cy="256032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800600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Trained Siamese model  |  Weights saved to .h5  |  Threshold = 0.70  |  Deployed for KYC inference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91A"/>
          </a:solidFill>
          <a:ln w="12700">
            <a:solidFill>
              <a:srgbClr val="0609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&amp; KYC Decision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trained model makes pass/fail decisions in real KYC applications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" y="987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" y="1316736"/>
            <a:ext cx="5029200" cy="512064"/>
          </a:xfrm>
          <a:prstGeom prst="rect">
            <a:avLst/>
          </a:prstGeom>
          <a:solidFill>
            <a:srgbClr val="111830"/>
          </a:solidFill>
          <a:ln w="19050">
            <a:solidFill>
              <a:srgbClr val="00C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" y="1316736"/>
            <a:ext cx="1115568" cy="512064"/>
          </a:xfrm>
          <a:prstGeom prst="rect">
            <a:avLst/>
          </a:prstGeom>
          <a:solidFill>
            <a:srgbClr val="00C853">
              <a:alpha val="80000"/>
            </a:srgbClr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" y="1316736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 @ FAR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Accept Rate at False Accept Rate 0.1%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1168" y="1938528"/>
            <a:ext cx="5029200" cy="512064"/>
          </a:xfrm>
          <a:prstGeom prst="rect">
            <a:avLst/>
          </a:prstGeom>
          <a:solidFill>
            <a:srgbClr val="111830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938528"/>
            <a:ext cx="1115568" cy="512064"/>
          </a:xfrm>
          <a:prstGeom prst="rect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1938528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2011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Receiver Operating Characteristic curve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" y="2560320"/>
            <a:ext cx="5029200" cy="512064"/>
          </a:xfrm>
          <a:prstGeom prst="rect">
            <a:avLst/>
          </a:prstGeom>
          <a:solidFill>
            <a:srgbClr val="111830"/>
          </a:solidFill>
          <a:ln w="19050">
            <a:solidFill>
              <a:srgbClr val="FFD7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" y="2560320"/>
            <a:ext cx="1115568" cy="512064"/>
          </a:xfrm>
          <a:prstGeom prst="rect">
            <a:avLst/>
          </a:prstGeom>
          <a:solidFill>
            <a:srgbClr val="FFD740">
              <a:alpha val="80000"/>
            </a:srgbClr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2560320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71600" y="2633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cutoff tuned on val set = 0.70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1168" y="3182112"/>
            <a:ext cx="5029200" cy="512064"/>
          </a:xfrm>
          <a:prstGeom prst="rect">
            <a:avLst/>
          </a:prstGeom>
          <a:solidFill>
            <a:srgbClr val="111830"/>
          </a:solidFill>
          <a:ln w="19050">
            <a:solidFill>
              <a:srgbClr val="FF6E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" y="3182112"/>
            <a:ext cx="1115568" cy="512064"/>
          </a:xfrm>
          <a:prstGeom prst="rect">
            <a:avLst/>
          </a:prstGeom>
          <a:solidFill>
            <a:srgbClr val="FF6E40">
              <a:alpha val="80000"/>
            </a:srgbClr>
          </a:solidFill>
          <a:ln w="12700">
            <a:solidFill>
              <a:srgbClr val="FF6E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318211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32552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predicted matches that are correct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" y="3803904"/>
            <a:ext cx="5029200" cy="512064"/>
          </a:xfrm>
          <a:prstGeom prst="rect">
            <a:avLst/>
          </a:prstGeom>
          <a:solidFill>
            <a:srgbClr val="111830"/>
          </a:solidFill>
          <a:ln w="19050">
            <a:solidFill>
              <a:srgbClr val="FF40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" y="3803904"/>
            <a:ext cx="1115568" cy="512064"/>
          </a:xfrm>
          <a:prstGeom prst="rect">
            <a:avLst/>
          </a:prstGeom>
          <a:solidFill>
            <a:srgbClr val="FF4081">
              <a:alpha val="80000"/>
            </a:srgbClr>
          </a:solidFill>
          <a:ln w="12700">
            <a:solidFill>
              <a:srgbClr val="FF40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" y="3803904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38770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actual matches correctly found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77840" y="987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DECISION FLOW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1316736"/>
            <a:ext cx="3383280" cy="438912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131673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Selfie + ID Photo received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69480" y="1755648"/>
            <a:ext cx="0" cy="109728"/>
          </a:xfrm>
          <a:prstGeom prst="line">
            <a:avLst/>
          </a:prstGeom>
          <a:noFill/>
          <a:ln w="19050">
            <a:solidFill>
              <a:srgbClr val="7C4D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1883664"/>
            <a:ext cx="3383280" cy="438912"/>
          </a:xfrm>
          <a:prstGeom prst="rect">
            <a:avLst/>
          </a:prstGeom>
          <a:solidFill>
            <a:srgbClr val="4A148C">
              <a:alpha val="70000"/>
            </a:srgbClr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1883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through Siamese branches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69480" y="2322576"/>
            <a:ext cx="0" cy="109728"/>
          </a:xfrm>
          <a:prstGeom prst="line">
            <a:avLst/>
          </a:prstGeom>
          <a:noFill/>
          <a:ln w="19050">
            <a:solidFill>
              <a:srgbClr val="7C4D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77840" y="2450592"/>
            <a:ext cx="3383280" cy="438912"/>
          </a:xfrm>
          <a:prstGeom prst="rect">
            <a:avLst/>
          </a:prstGeom>
          <a:solidFill>
            <a:srgbClr val="E65100">
              <a:alpha val="7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24505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embedding A &amp; 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69480" y="2889504"/>
            <a:ext cx="0" cy="109728"/>
          </a:xfrm>
          <a:prstGeom prst="line">
            <a:avLst/>
          </a:prstGeom>
          <a:noFill/>
          <a:ln w="19050">
            <a:solidFill>
              <a:srgbClr val="7C4D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3017520"/>
            <a:ext cx="3383280" cy="438912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017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cosine similarity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69480" y="3456432"/>
            <a:ext cx="0" cy="109728"/>
          </a:xfrm>
          <a:prstGeom prst="line">
            <a:avLst/>
          </a:prstGeom>
          <a:noFill/>
          <a:ln w="19050">
            <a:solidFill>
              <a:srgbClr val="7C4D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77840" y="3584448"/>
            <a:ext cx="3383280" cy="438912"/>
          </a:xfrm>
          <a:prstGeom prst="rect">
            <a:avLst/>
          </a:prstGeom>
          <a:solidFill>
            <a:srgbClr val="BF360C">
              <a:alpha val="70000"/>
            </a:srgbClr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358444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&gt;= 0.70 ?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69480" y="4023360"/>
            <a:ext cx="0" cy="109728"/>
          </a:xfrm>
          <a:prstGeom prst="line">
            <a:avLst/>
          </a:prstGeom>
          <a:noFill/>
          <a:ln w="19050">
            <a:solidFill>
              <a:srgbClr val="7C4D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577840" y="4151376"/>
            <a:ext cx="3383280" cy="438912"/>
          </a:xfrm>
          <a:prstGeom prst="rect">
            <a:avLst/>
          </a:prstGeom>
          <a:solidFill>
            <a:srgbClr val="006064"/>
          </a:solidFill>
          <a:ln w="25400">
            <a:solidFill>
              <a:srgbClr val="00606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77840" y="415137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PASS  /  KYC FAIL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6091A"/>
          </a:solidFill>
          <a:ln w="12700">
            <a:solidFill>
              <a:srgbClr val="0609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Model Training  •  Slide 6 of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2026-03-17T15:47:11Z</dcterms:created>
  <dcterms:modified xsi:type="dcterms:W3CDTF">2026-03-17T15:47:11Z</dcterms:modified>
</cp:coreProperties>
</file>